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36636" y="3169636"/>
            <a:ext cx="518728" cy="51872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36636" y="3385773"/>
            <a:ext cx="518728" cy="86455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52773" y="3169636"/>
            <a:ext cx="86455" cy="518728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09546" y="3342546"/>
            <a:ext cx="172909" cy="172909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500000"/>
            <a:ext cx="10992000" cy="5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Arial"/>
              </a:rPr>
              <a:t>FixationCross.pptx — Thaler ABC optimal fixation target</a:t>
            </a:r>
          </a:p>
          <a:p/>
          <a:p>
            <a:r>
              <a:rPr sz="1600" b="1">
                <a:latin typeface="Arial"/>
              </a:rPr>
              <a:t>Design reference:</a:t>
            </a:r>
          </a:p>
          <a:p>
            <a:r>
              <a:rPr sz="1400" b="0">
                <a:latin typeface="Arial"/>
              </a:rPr>
              <a:t>Thaler, Schütz, Goodale &amp; Gegenfurtner (2013). What is the best fixation target? The effect of target shape on stability of fixational eye movements. Vision Research 76:31–42.</a:t>
            </a:r>
          </a:p>
          <a:p/>
          <a:p>
            <a:r>
              <a:rPr sz="1600" b="1">
                <a:latin typeface="Arial"/>
              </a:rPr>
              <a:t>Display geometry (Pitt BOLDscreen):</a:t>
            </a:r>
          </a:p>
          <a:p>
            <a:r>
              <a:rPr sz="1400" b="0">
                <a:latin typeface="Arial"/>
              </a:rPr>
              <a:t>  Viewing distance:   139.0 cm</a:t>
            </a:r>
          </a:p>
          <a:p>
            <a:r>
              <a:rPr sz="1400" b="0">
                <a:latin typeface="Arial"/>
              </a:rPr>
              <a:t>  Screen size:        69.84 × 39.29 cm</a:t>
            </a:r>
          </a:p>
          <a:p>
            <a:r>
              <a:rPr sz="1400" b="0">
                <a:latin typeface="Arial"/>
              </a:rPr>
              <a:t>  Native resolution:  1920 × 1080 px</a:t>
            </a:r>
          </a:p>
          <a:p>
            <a:r>
              <a:rPr sz="1400" b="0">
                <a:latin typeface="Arial"/>
              </a:rPr>
              <a:t>  Field of view:      28.20° × 16.09°</a:t>
            </a:r>
          </a:p>
          <a:p>
            <a:r>
              <a:rPr sz="1400" b="0">
                <a:latin typeface="Arial"/>
              </a:rPr>
              <a:t>  Scale:              68.07 px/° (146.9 µm/px on screen)</a:t>
            </a:r>
          </a:p>
          <a:p/>
          <a:p>
            <a:r>
              <a:rPr sz="1600" b="1">
                <a:latin typeface="Arial"/>
              </a:rPr>
              <a:t>Target parameters:</a:t>
            </a:r>
          </a:p>
          <a:p>
            <a:r>
              <a:rPr sz="1400" b="0">
                <a:latin typeface="Arial"/>
              </a:rPr>
              <a:t>  Outer disk diameter:    1.2°  (81.7 px, 2.97 cm)</a:t>
            </a:r>
          </a:p>
          <a:p>
            <a:r>
              <a:rPr sz="1400" b="0">
                <a:latin typeface="Arial"/>
              </a:rPr>
              <a:t>  Inner disk diameter:    0.4°  (27.2 px)</a:t>
            </a:r>
          </a:p>
          <a:p>
            <a:r>
              <a:rPr sz="1400" b="0">
                <a:latin typeface="Arial"/>
              </a:rPr>
              <a:t>  Crosshair thickness:    0.2°  (13.6 px)</a:t>
            </a:r>
          </a:p>
          <a:p>
            <a:r>
              <a:rPr sz="1400" b="0">
                <a:latin typeface="Arial"/>
              </a:rPr>
              <a:t>  Foreground:             RGB(0, 0, 0)   (black)</a:t>
            </a:r>
          </a:p>
          <a:p>
            <a:r>
              <a:rPr sz="1400" b="0">
                <a:latin typeface="Arial"/>
              </a:rPr>
              <a:t>  Background:             RGB(128, 128, 128)   (mid-gray, iso-luminant with typical task stimuli)</a:t>
            </a:r>
          </a:p>
          <a:p/>
          <a:p>
            <a:r>
              <a:rPr sz="1600" b="1">
                <a:latin typeface="Arial"/>
              </a:rPr>
              <a:t>Usage notes:</a:t>
            </a:r>
          </a:p>
          <a:p>
            <a:r>
              <a:rPr sz="1300" b="0">
                <a:latin typeface="Arial"/>
              </a:rPr>
              <a:t>  • Present full-screen on the BOLDscreen. Slide is authored at exactly 1920 × 1080 px (6350 EMU/px) so PowerPoint coordinates map 1:1 to display pixels — no rescaling.</a:t>
            </a:r>
          </a:p>
          <a:p>
            <a:r>
              <a:rPr sz="1300" b="0">
                <a:latin typeface="Arial"/>
              </a:rPr>
              <a:t>  • Visual angles assume 139 cm viewing distance. If a participant's head is unusually small/large, recompute px/° before publishing.</a:t>
            </a:r>
          </a:p>
          <a:p>
            <a:r>
              <a:rPr sz="1300" b="0">
                <a:latin typeface="Arial"/>
              </a:rPr>
              <a:t>  • For PsychoPy usage, prefer drawing the target programmatically with deg units (see scripts/generate_fixation_cross.py) rather than importing this .pptx as an image.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